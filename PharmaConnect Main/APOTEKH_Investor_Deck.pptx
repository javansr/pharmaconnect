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APOTEKH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05840" y="20574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for African Pharmacy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0" y="2761488"/>
            <a:ext cx="3657600" cy="0"/>
          </a:xfrm>
          <a:prstGeom prst="line">
            <a:avLst/>
          </a:prstGeom>
          <a:noFill/>
          <a:ln w="16510">
            <a:solidFill>
              <a:srgbClr val="F7B7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99008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INFRASTRUCTURE  |  HEALTHCARE COMMERCE  |  CLINICAL SAFETY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3291840" y="468172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Seed Round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56432" cy="51435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5029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84048" y="978408"/>
            <a:ext cx="2606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Pharmacies are running critical healthcare on tools built for a grocery shop.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84048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nothing at all.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86200" y="658368"/>
            <a:ext cx="2057400" cy="1444752"/>
          </a:xfrm>
          <a:prstGeom prst="roundRect">
            <a:avLst>
              <a:gd name="adj" fmla="val 3797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23360" y="877824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069080" y="15361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dispensing days affected by stock-outs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6309360" y="658368"/>
            <a:ext cx="2057400" cy="1444752"/>
          </a:xfrm>
          <a:prstGeom prst="roundRect">
            <a:avLst>
              <a:gd name="adj" fmla="val 3797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877824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92240" y="15361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systems in TZ with interaction checking at point of sale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886200" y="2532888"/>
            <a:ext cx="2057400" cy="1444752"/>
          </a:xfrm>
          <a:prstGeom prst="roundRect">
            <a:avLst>
              <a:gd name="adj" fmla="val 3797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23360" y="2752344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069080" y="341071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Tanzania's 16,000 outlets using purpose-built systems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309360" y="2532888"/>
            <a:ext cx="2057400" cy="1444752"/>
          </a:xfrm>
          <a:prstGeom prst="roundRect">
            <a:avLst>
              <a:gd name="adj" fmla="val 3797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2752344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 M+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6492240" y="341071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annually to expired stock and manual reconciliation errors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stakeholders. One broken operating layer.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04088"/>
            <a:ext cx="7863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owners, patients, and regulators each lose when pharmacy operations stay informal.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487168" cy="324612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371600"/>
            <a:ext cx="310896" cy="310896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43560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69848" y="1417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PHARMACY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847088"/>
            <a:ext cx="196596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Stockouts and dead stock</a:t>
            </a:r>
            <a:endParaRPr lang="en-US" sz="850" dirty="0"/>
          </a:p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inventory losses</a:t>
            </a:r>
            <a:endParaRPr lang="en-US" sz="850" dirty="0"/>
          </a:p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daily close</a:t>
            </a:r>
            <a:endParaRPr lang="en-US" sz="850" dirty="0"/>
          </a:p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supplier performance view</a:t>
            </a:r>
            <a:endParaRPr lang="en-US" sz="850" dirty="0"/>
          </a:p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work after the fact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55848" y="1143000"/>
            <a:ext cx="2487168" cy="324612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371600"/>
            <a:ext cx="310896" cy="310896"/>
          </a:xfrm>
          <a:prstGeom prst="ellipse">
            <a:avLst/>
          </a:prstGeom>
          <a:solidFill>
            <a:srgbClr val="F7B731"/>
          </a:solidFill>
          <a:ln w="12700">
            <a:solidFill>
              <a:srgbClr val="F7B73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7872" y="143560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922776" y="1417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84448" y="1847088"/>
            <a:ext cx="196596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interactions missed</a:t>
            </a:r>
            <a:endParaRPr lang="en-US" sz="850" dirty="0"/>
          </a:p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chain history unknown</a:t>
            </a:r>
            <a:endParaRPr lang="en-US" sz="850" dirty="0"/>
          </a:p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Counselling depends on memory</a:t>
            </a:r>
            <a:endParaRPr lang="en-US" sz="850" dirty="0"/>
          </a:p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antibiotic use invisible</a:t>
            </a:r>
            <a:endParaRPr lang="en-US" sz="850" dirty="0"/>
          </a:p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adverse reaction pathway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08776" y="1143000"/>
            <a:ext cx="2487168" cy="324612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73368" y="1371600"/>
            <a:ext cx="310896" cy="310896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43560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775704" y="1417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37376" y="1847088"/>
            <a:ext cx="196596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</a:t>
            </a:r>
            <a:endParaRPr lang="en-US" sz="850" dirty="0"/>
          </a:p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inspection records</a:t>
            </a:r>
            <a:endParaRPr lang="en-US" sz="850" dirty="0"/>
          </a:p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Antibiotic stewardship data absent</a:t>
            </a:r>
            <a:endParaRPr lang="en-US" sz="850" dirty="0"/>
          </a:p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reports rarely reach TMDA</a:t>
            </a:r>
            <a:endParaRPr lang="en-US" sz="850" dirty="0"/>
          </a:p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chain compliance unverifiable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" y="4617720"/>
            <a:ext cx="8138160" cy="0"/>
          </a:xfrm>
          <a:prstGeom prst="line">
            <a:avLst/>
          </a:prstGeom>
          <a:noFill/>
          <a:ln w="16510">
            <a:solidFill>
              <a:srgbClr val="00A8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40280" y="470916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APOTEKH closes all three gaps simultaneously.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is not enough.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04088"/>
            <a:ext cx="7863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alternative fails on at least two of the five dimensions pharmacies need.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38912" y="1060704"/>
            <a:ext cx="1920240" cy="438912"/>
          </a:xfrm>
          <a:prstGeom prst="roundRect">
            <a:avLst>
              <a:gd name="adj" fmla="val 12500"/>
            </a:avLst>
          </a:prstGeom>
          <a:solidFill>
            <a:srgbClr val="0A2540"/>
          </a:solidFill>
          <a:ln w="8890">
            <a:solidFill>
              <a:srgbClr val="0A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1197864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359152" y="1060704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0A2540"/>
          </a:solidFill>
          <a:ln w="8890">
            <a:solidFill>
              <a:srgbClr val="0A25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04872" y="1197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502152" y="1060704"/>
            <a:ext cx="1234440" cy="438912"/>
          </a:xfrm>
          <a:prstGeom prst="roundRect">
            <a:avLst>
              <a:gd name="adj" fmla="val 12500"/>
            </a:avLst>
          </a:prstGeom>
          <a:solidFill>
            <a:srgbClr val="0A2540"/>
          </a:solidFill>
          <a:ln w="8890">
            <a:solidFill>
              <a:srgbClr val="0A25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1197864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36592" y="1060704"/>
            <a:ext cx="1234440" cy="438912"/>
          </a:xfrm>
          <a:prstGeom prst="roundRect">
            <a:avLst>
              <a:gd name="adj" fmla="val 12500"/>
            </a:avLst>
          </a:prstGeom>
          <a:solidFill>
            <a:srgbClr val="0A2540"/>
          </a:solidFill>
          <a:ln w="8890">
            <a:solidFill>
              <a:srgbClr val="0A25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2312" y="1197864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71032" y="1060704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0A2540"/>
          </a:solidFill>
          <a:ln w="8890">
            <a:solidFill>
              <a:srgbClr val="0A25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16752" y="1197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114032" y="1060704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0A2540"/>
          </a:solidFill>
          <a:ln w="8890">
            <a:solidFill>
              <a:srgbClr val="0A25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59752" y="1197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TZ-Native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38912" y="1499616"/>
            <a:ext cx="1920240" cy="438912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1636776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POS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2359152" y="1499616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04872" y="1636776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3502152" y="1499616"/>
            <a:ext cx="1234440" cy="438912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47872" y="1636776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4736592" y="1499616"/>
            <a:ext cx="1234440" cy="438912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1636776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5971032" y="1499616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16752" y="1636776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7114032" y="1499616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59752" y="1636776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438912" y="1938528"/>
            <a:ext cx="19202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" y="2075688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Chains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2359152" y="1938528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04872" y="2075688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3502152" y="1938528"/>
            <a:ext cx="1234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47872" y="2075688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4736592" y="1938528"/>
            <a:ext cx="1234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82312" y="2075688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5971032" y="1938528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16752" y="2075688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7114032" y="1938528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59752" y="2075688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438912" y="2377440"/>
            <a:ext cx="1920240" cy="438912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" y="2514600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Sector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2359152" y="2377440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04872" y="2514600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30" dirty="0"/>
          </a:p>
        </p:txBody>
      </p:sp>
      <p:sp>
        <p:nvSpPr>
          <p:cNvPr id="44" name="Shape 42"/>
          <p:cNvSpPr/>
          <p:nvPr/>
        </p:nvSpPr>
        <p:spPr>
          <a:xfrm>
            <a:off x="3502152" y="2377440"/>
            <a:ext cx="1234440" cy="438912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47872" y="2514600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30" dirty="0"/>
          </a:p>
        </p:txBody>
      </p:sp>
      <p:sp>
        <p:nvSpPr>
          <p:cNvPr id="46" name="Shape 44"/>
          <p:cNvSpPr/>
          <p:nvPr/>
        </p:nvSpPr>
        <p:spPr>
          <a:xfrm>
            <a:off x="4736592" y="2377440"/>
            <a:ext cx="1234440" cy="438912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82312" y="2514600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30" dirty="0"/>
          </a:p>
        </p:txBody>
      </p:sp>
      <p:sp>
        <p:nvSpPr>
          <p:cNvPr id="48" name="Shape 46"/>
          <p:cNvSpPr/>
          <p:nvPr/>
        </p:nvSpPr>
        <p:spPr>
          <a:xfrm>
            <a:off x="5971032" y="2377440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16752" y="2514600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30" dirty="0"/>
          </a:p>
        </p:txBody>
      </p:sp>
      <p:sp>
        <p:nvSpPr>
          <p:cNvPr id="50" name="Shape 48"/>
          <p:cNvSpPr/>
          <p:nvPr/>
        </p:nvSpPr>
        <p:spPr>
          <a:xfrm>
            <a:off x="7114032" y="2377440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59752" y="2514600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30" dirty="0"/>
          </a:p>
        </p:txBody>
      </p:sp>
      <p:sp>
        <p:nvSpPr>
          <p:cNvPr id="52" name="Shape 50"/>
          <p:cNvSpPr/>
          <p:nvPr/>
        </p:nvSpPr>
        <p:spPr>
          <a:xfrm>
            <a:off x="438912" y="2816352"/>
            <a:ext cx="19202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4632" y="295351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SW</a:t>
            </a:r>
            <a:endParaRPr lang="en-US" sz="830" dirty="0"/>
          </a:p>
        </p:txBody>
      </p:sp>
      <p:sp>
        <p:nvSpPr>
          <p:cNvPr id="54" name="Shape 52"/>
          <p:cNvSpPr/>
          <p:nvPr/>
        </p:nvSpPr>
        <p:spPr>
          <a:xfrm>
            <a:off x="2359152" y="2816352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04872" y="2953512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30" dirty="0"/>
          </a:p>
        </p:txBody>
      </p:sp>
      <p:sp>
        <p:nvSpPr>
          <p:cNvPr id="56" name="Shape 54"/>
          <p:cNvSpPr/>
          <p:nvPr/>
        </p:nvSpPr>
        <p:spPr>
          <a:xfrm>
            <a:off x="3502152" y="2816352"/>
            <a:ext cx="1234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47872" y="2953512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30" dirty="0"/>
          </a:p>
        </p:txBody>
      </p:sp>
      <p:sp>
        <p:nvSpPr>
          <p:cNvPr id="58" name="Shape 56"/>
          <p:cNvSpPr/>
          <p:nvPr/>
        </p:nvSpPr>
        <p:spPr>
          <a:xfrm>
            <a:off x="4736592" y="2816352"/>
            <a:ext cx="1234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82312" y="2953512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30" dirty="0"/>
          </a:p>
        </p:txBody>
      </p:sp>
      <p:sp>
        <p:nvSpPr>
          <p:cNvPr id="60" name="Shape 58"/>
          <p:cNvSpPr/>
          <p:nvPr/>
        </p:nvSpPr>
        <p:spPr>
          <a:xfrm>
            <a:off x="5971032" y="2816352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16752" y="2953512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30" dirty="0"/>
          </a:p>
        </p:txBody>
      </p:sp>
      <p:sp>
        <p:nvSpPr>
          <p:cNvPr id="62" name="Shape 60"/>
          <p:cNvSpPr/>
          <p:nvPr/>
        </p:nvSpPr>
        <p:spPr>
          <a:xfrm>
            <a:off x="7114032" y="2816352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59752" y="2953512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30" dirty="0"/>
          </a:p>
        </p:txBody>
      </p:sp>
      <p:sp>
        <p:nvSpPr>
          <p:cNvPr id="64" name="Shape 62"/>
          <p:cNvSpPr/>
          <p:nvPr/>
        </p:nvSpPr>
        <p:spPr>
          <a:xfrm>
            <a:off x="438912" y="3255264"/>
            <a:ext cx="1920240" cy="438912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4632" y="3392424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WhatsApp</a:t>
            </a:r>
            <a:endParaRPr lang="en-US" sz="830" dirty="0"/>
          </a:p>
        </p:txBody>
      </p:sp>
      <p:sp>
        <p:nvSpPr>
          <p:cNvPr id="66" name="Shape 64"/>
          <p:cNvSpPr/>
          <p:nvPr/>
        </p:nvSpPr>
        <p:spPr>
          <a:xfrm>
            <a:off x="2359152" y="3255264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404872" y="3392424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30" dirty="0"/>
          </a:p>
        </p:txBody>
      </p:sp>
      <p:sp>
        <p:nvSpPr>
          <p:cNvPr id="68" name="Shape 66"/>
          <p:cNvSpPr/>
          <p:nvPr/>
        </p:nvSpPr>
        <p:spPr>
          <a:xfrm>
            <a:off x="3502152" y="3255264"/>
            <a:ext cx="1234440" cy="438912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547872" y="3392424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30" dirty="0"/>
          </a:p>
        </p:txBody>
      </p:sp>
      <p:sp>
        <p:nvSpPr>
          <p:cNvPr id="70" name="Shape 68"/>
          <p:cNvSpPr/>
          <p:nvPr/>
        </p:nvSpPr>
        <p:spPr>
          <a:xfrm>
            <a:off x="4736592" y="3255264"/>
            <a:ext cx="1234440" cy="438912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82312" y="3392424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30" dirty="0"/>
          </a:p>
        </p:txBody>
      </p:sp>
      <p:sp>
        <p:nvSpPr>
          <p:cNvPr id="72" name="Shape 70"/>
          <p:cNvSpPr/>
          <p:nvPr/>
        </p:nvSpPr>
        <p:spPr>
          <a:xfrm>
            <a:off x="5971032" y="3255264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016752" y="3392424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30" dirty="0"/>
          </a:p>
        </p:txBody>
      </p:sp>
      <p:sp>
        <p:nvSpPr>
          <p:cNvPr id="74" name="Shape 72"/>
          <p:cNvSpPr/>
          <p:nvPr/>
        </p:nvSpPr>
        <p:spPr>
          <a:xfrm>
            <a:off x="7114032" y="3255264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159752" y="3392424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30" dirty="0"/>
          </a:p>
        </p:txBody>
      </p:sp>
      <p:sp>
        <p:nvSpPr>
          <p:cNvPr id="76" name="Shape 74"/>
          <p:cNvSpPr/>
          <p:nvPr/>
        </p:nvSpPr>
        <p:spPr>
          <a:xfrm>
            <a:off x="438912" y="3694176"/>
            <a:ext cx="1920240" cy="438912"/>
          </a:xfrm>
          <a:prstGeom prst="roundRect">
            <a:avLst>
              <a:gd name="adj" fmla="val 12500"/>
            </a:avLst>
          </a:prstGeom>
          <a:solidFill>
            <a:srgbClr val="00A878"/>
          </a:solidFill>
          <a:ln w="8890">
            <a:solidFill>
              <a:srgbClr val="00A87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4632" y="3831336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APOTEKH</a:t>
            </a:r>
            <a:endParaRPr lang="en-US" sz="830" dirty="0"/>
          </a:p>
        </p:txBody>
      </p:sp>
      <p:sp>
        <p:nvSpPr>
          <p:cNvPr id="78" name="Shape 76"/>
          <p:cNvSpPr/>
          <p:nvPr/>
        </p:nvSpPr>
        <p:spPr>
          <a:xfrm>
            <a:off x="2359152" y="3694176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00A878"/>
          </a:solidFill>
          <a:ln w="8890">
            <a:solidFill>
              <a:srgbClr val="00A87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404872" y="3831336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30" dirty="0"/>
          </a:p>
        </p:txBody>
      </p:sp>
      <p:sp>
        <p:nvSpPr>
          <p:cNvPr id="80" name="Shape 78"/>
          <p:cNvSpPr/>
          <p:nvPr/>
        </p:nvSpPr>
        <p:spPr>
          <a:xfrm>
            <a:off x="3502152" y="3694176"/>
            <a:ext cx="1234440" cy="438912"/>
          </a:xfrm>
          <a:prstGeom prst="roundRect">
            <a:avLst>
              <a:gd name="adj" fmla="val 12500"/>
            </a:avLst>
          </a:prstGeom>
          <a:solidFill>
            <a:srgbClr val="00A878"/>
          </a:solidFill>
          <a:ln w="8890">
            <a:solidFill>
              <a:srgbClr val="00A87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547872" y="3831336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30" dirty="0"/>
          </a:p>
        </p:txBody>
      </p:sp>
      <p:sp>
        <p:nvSpPr>
          <p:cNvPr id="82" name="Shape 80"/>
          <p:cNvSpPr/>
          <p:nvPr/>
        </p:nvSpPr>
        <p:spPr>
          <a:xfrm>
            <a:off x="4736592" y="3694176"/>
            <a:ext cx="1234440" cy="438912"/>
          </a:xfrm>
          <a:prstGeom prst="roundRect">
            <a:avLst>
              <a:gd name="adj" fmla="val 12500"/>
            </a:avLst>
          </a:prstGeom>
          <a:solidFill>
            <a:srgbClr val="00A878"/>
          </a:solidFill>
          <a:ln w="8890">
            <a:solidFill>
              <a:srgbClr val="00A87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782312" y="3831336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30" dirty="0"/>
          </a:p>
        </p:txBody>
      </p:sp>
      <p:sp>
        <p:nvSpPr>
          <p:cNvPr id="84" name="Shape 82"/>
          <p:cNvSpPr/>
          <p:nvPr/>
        </p:nvSpPr>
        <p:spPr>
          <a:xfrm>
            <a:off x="5971032" y="3694176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00A878"/>
          </a:solidFill>
          <a:ln w="8890">
            <a:solidFill>
              <a:srgbClr val="00A87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016752" y="3831336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30" dirty="0"/>
          </a:p>
        </p:txBody>
      </p:sp>
      <p:sp>
        <p:nvSpPr>
          <p:cNvPr id="86" name="Shape 84"/>
          <p:cNvSpPr/>
          <p:nvPr/>
        </p:nvSpPr>
        <p:spPr>
          <a:xfrm>
            <a:off x="7114032" y="3694176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00A878"/>
          </a:solidFill>
          <a:ln w="8890">
            <a:solidFill>
              <a:srgbClr val="00A87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159752" y="3831336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30" dirty="0"/>
          </a:p>
        </p:txBody>
      </p:sp>
      <p:sp>
        <p:nvSpPr>
          <p:cNvPr id="88" name="Text 86"/>
          <p:cNvSpPr/>
          <p:nvPr/>
        </p:nvSpPr>
        <p:spPr>
          <a:xfrm>
            <a:off x="594360" y="4526280"/>
            <a:ext cx="79552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category comparison: only APOTEKH combines clinical safety, compliance, inventory intelligence, wholesale workflows, and Tanzania-native operating logic.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integrated layers. One operating system.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04088"/>
            <a:ext cx="7863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TMDA compliance, NHIF integration, and Tanzania's drug formulary from day one.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1444752" cy="31546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34440"/>
            <a:ext cx="1444752" cy="109728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72768"/>
            <a:ext cx="310896" cy="310896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63677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48640" y="203911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Dispensing Engine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548640" y="2578608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 classification, interaction checking, FEFO batch enforcement, prescription management, PIC PIN authorization.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2148840" y="1234440"/>
            <a:ext cx="1444752" cy="31546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48840" y="1234440"/>
            <a:ext cx="1444752" cy="109728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572768"/>
            <a:ext cx="310896" cy="310896"/>
          </a:xfrm>
          <a:prstGeom prst="ellipse">
            <a:avLst/>
          </a:prstGeom>
          <a:solidFill>
            <a:srgbClr val="F7B731"/>
          </a:solidFill>
          <a:ln w="12700">
            <a:solidFill>
              <a:srgbClr val="F7B73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13432" y="163677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286000" y="203911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Intelligence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2286000" y="2578608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forecasting, dead stock scoring, cold chain logs, expiry tracking, real-time stock levels.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3886200" y="1234440"/>
            <a:ext cx="1444752" cy="31546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86200" y="1234440"/>
            <a:ext cx="1444752" cy="109728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0" y="1572768"/>
            <a:ext cx="310896" cy="310896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50792" y="163677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023360" y="203911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Infrastructure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4023360" y="2578608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TMDA audit trail, NHIF claims, Pharmacy Council documentation, ADR reporting, GSDP records.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5623560" y="1234440"/>
            <a:ext cx="1444752" cy="31546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23560" y="1234440"/>
            <a:ext cx="1444752" cy="109728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60720" y="1572768"/>
            <a:ext cx="310896" cy="310896"/>
          </a:xfrm>
          <a:prstGeom prst="ellipse">
            <a:avLst/>
          </a:prstGeom>
          <a:solidFill>
            <a:srgbClr val="F7B731"/>
          </a:solidFill>
          <a:ln w="12700">
            <a:solidFill>
              <a:srgbClr val="F7B73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88152" y="163677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760720" y="203911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Network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5760720" y="2578608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ordering, purchase orders, delivery manifests, credit notes, per-client price overrides.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7360920" y="1234440"/>
            <a:ext cx="1444752" cy="31546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60920" y="1234440"/>
            <a:ext cx="1444752" cy="109728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1572768"/>
            <a:ext cx="310896" cy="310896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25512" y="163677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498080" y="203911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Safety AI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7498080" y="2578608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counselling, interaction alerts, pregnancy flags, RESERVE antibiotic warnings, no patient data stored.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platform. In production. Right now.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3703320" cy="896112"/>
          </a:xfrm>
          <a:prstGeom prst="roundRect">
            <a:avLst>
              <a:gd name="adj" fmla="val 6122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005840"/>
            <a:ext cx="100584" cy="896112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115214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Dispensing Interface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40664" y="140817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generic or brand name. AWaRe badges appear instantly. Interactions checked before confirmation.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3703320" cy="896112"/>
          </a:xfrm>
          <a:prstGeom prst="roundRect">
            <a:avLst>
              <a:gd name="adj" fmla="val 6122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005840"/>
            <a:ext cx="100584" cy="896112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46904" y="115214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Forecasting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46904" y="140817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demand averaging, lead-time modeling, RISK and OUT status flags, urgent items surfaced.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502920" y="2240280"/>
            <a:ext cx="3703320" cy="896112"/>
          </a:xfrm>
          <a:prstGeom prst="roundRect">
            <a:avLst>
              <a:gd name="adj" fmla="val 6122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240280"/>
            <a:ext cx="100584" cy="896112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" y="238658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Order Management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0664" y="264261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orders, supplier catalogues, delivery manifests, driver assignment, stock receipt confirmation.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3703320" cy="896112"/>
          </a:xfrm>
          <a:prstGeom prst="roundRect">
            <a:avLst>
              <a:gd name="adj" fmla="val 6122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240280"/>
            <a:ext cx="100584" cy="896112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46904" y="238658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Counselling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46904" y="264261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Drug-specific counselling at dispensing. Interaction and contraindication alerts. Session-only data handling.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502920" y="3474720"/>
            <a:ext cx="3703320" cy="896112"/>
          </a:xfrm>
          <a:prstGeom prst="roundRect">
            <a:avLst>
              <a:gd name="adj" fmla="val 6122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474720"/>
            <a:ext cx="100584" cy="896112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" y="362102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Close &amp; Reconciliation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0664" y="387705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close, revenue, items dispensed, payment mix, and one close per outlet per calendar day.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4709160" y="3474720"/>
            <a:ext cx="3703320" cy="896112"/>
          </a:xfrm>
          <a:prstGeom prst="roundRect">
            <a:avLst>
              <a:gd name="adj" fmla="val 6122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474720"/>
            <a:ext cx="100584" cy="896112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46904" y="362102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Access Control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46904" y="387705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ADDO to Enterprise feature gates enforced at API level with role-based access controls.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layer no competitor has.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04088"/>
            <a:ext cx="7863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WHO standards. Enforced at the point of dispensing.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310896" cy="310896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9844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43000" y="126187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 Antibiotic Classification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94760" y="125272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and RESERVE antibiotics flagged at dispensing with NEMLIT-aligned guardrails.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58368" y="1911096"/>
            <a:ext cx="310896" cy="310896"/>
          </a:xfrm>
          <a:prstGeom prst="ellipse">
            <a:avLst/>
          </a:prstGeom>
          <a:solidFill>
            <a:srgbClr val="F7B731"/>
          </a:solidFill>
          <a:ln w="12700">
            <a:solidFill>
              <a:srgbClr val="F7B73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7510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43000" y="193852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Interaction Engine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94760" y="1929384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dispensing against a local interaction dataset and escalates high-risk combinations.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58368" y="2587752"/>
            <a:ext cx="310896" cy="310896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5176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143000" y="261518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Chain Temperature Logging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94760" y="260604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GSDP-compliant records by storage unit, excursion flagging, and audit-ready history.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58368" y="3264408"/>
            <a:ext cx="310896" cy="310896"/>
          </a:xfrm>
          <a:prstGeom prst="ellipse">
            <a:avLst/>
          </a:prstGeom>
          <a:solidFill>
            <a:srgbClr val="F7B731"/>
          </a:solidFill>
          <a:ln w="12700">
            <a:solidFill>
              <a:srgbClr val="F7B73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32841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143000" y="329184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Pharmacovigilance &amp; ADR Reporting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94760" y="328269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adverse reaction forms, TMDA reference tracking, and submission status management.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58368" y="3941064"/>
            <a:ext cx="310896" cy="310896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00507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143000" y="396849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Patient Counselling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94760" y="395935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counselling at dispensing, with graceful rule-based fallback when AI is unavailable.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tiers built for the real market.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04088"/>
            <a:ext cx="7863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rural ADDO outlets to multi-branch wholesale pharmacies in Dar es Salaam.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75488" y="1115568"/>
            <a:ext cx="1828800" cy="301752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115568"/>
            <a:ext cx="1828800" cy="4572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71016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810512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 25,000 /mo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404872"/>
            <a:ext cx="123444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Dispensing</a:t>
            </a:r>
            <a:endParaRPr lang="en-US" sz="820" dirty="0"/>
          </a:p>
          <a:p>
            <a:pPr marL="127000" indent="-127000">
              <a:buSzPct val="100000"/>
              <a:buChar char="•"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inventory</a:t>
            </a:r>
            <a:endParaRPr lang="en-US" sz="820" dirty="0"/>
          </a:p>
          <a:p>
            <a:pPr marL="127000" indent="-127000">
              <a:buSzPct val="100000"/>
              <a:buChar char="•"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close</a:t>
            </a:r>
            <a:endParaRPr lang="en-US" sz="820" dirty="0"/>
          </a:p>
          <a:p>
            <a:pPr marL="127000" indent="-127000">
              <a:buSzPct val="100000"/>
              <a:buChar char="•"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ADDO drug list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2606040" y="1115568"/>
            <a:ext cx="1828800" cy="301752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115568"/>
            <a:ext cx="1828800" cy="45720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271016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24912" y="1810512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 50,000 /mo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62072" y="2404872"/>
            <a:ext cx="123444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ADDO plus</a:t>
            </a:r>
            <a:endParaRPr lang="en-US" sz="820" dirty="0"/>
          </a:p>
          <a:p>
            <a:pPr marL="127000" indent="-127000">
              <a:buSzPct val="100000"/>
              <a:buChar char="•"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safety tools</a:t>
            </a:r>
            <a:endParaRPr lang="en-US" sz="820" dirty="0"/>
          </a:p>
          <a:p>
            <a:pPr marL="127000" indent="-127000">
              <a:buSzPct val="100000"/>
              <a:buChar char="•"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20" dirty="0"/>
          </a:p>
          <a:p>
            <a:pPr marL="127000" indent="-127000">
              <a:buSzPct val="100000"/>
              <a:buChar char="•"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NHIF basic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4736592" y="1115568"/>
            <a:ext cx="1828800" cy="301752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36592" y="1115568"/>
            <a:ext cx="182880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1271016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120640" y="850392"/>
            <a:ext cx="1051560" cy="228600"/>
          </a:xfrm>
          <a:prstGeom prst="roundRect">
            <a:avLst>
              <a:gd name="adj" fmla="val 32000"/>
            </a:avLst>
          </a:prstGeom>
          <a:solidFill>
            <a:srgbClr val="FFF3D0"/>
          </a:solidFill>
          <a:ln w="12700">
            <a:solidFill>
              <a:srgbClr val="F7B73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75504" y="900684"/>
            <a:ext cx="941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855464" y="1810512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 100,000 /mo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92624" y="2404872"/>
            <a:ext cx="123444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plus</a:t>
            </a:r>
            <a:endParaRPr lang="en-US" sz="820" dirty="0"/>
          </a:p>
          <a:p>
            <a:pPr marL="127000" indent="-127000">
              <a:buSzPct val="100000"/>
              <a:buChar char="•"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820" dirty="0"/>
          </a:p>
          <a:p>
            <a:pPr marL="127000" indent="-127000">
              <a:buSzPct val="100000"/>
              <a:buChar char="•"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counselling</a:t>
            </a:r>
            <a:endParaRPr lang="en-US" sz="820" dirty="0"/>
          </a:p>
          <a:p>
            <a:pPr marL="127000" indent="-127000">
              <a:buSzPct val="100000"/>
              <a:buChar char="•"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roles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867144" y="1115568"/>
            <a:ext cx="1828800" cy="301752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67144" y="1115568"/>
            <a:ext cx="1828800" cy="45720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58584" y="1271016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86016" y="1810512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 200,000+ /mo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23176" y="2404872"/>
            <a:ext cx="123444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plus</a:t>
            </a:r>
            <a:endParaRPr lang="en-US" sz="820" dirty="0"/>
          </a:p>
          <a:p>
            <a:pPr marL="127000" indent="-127000">
              <a:buSzPct val="100000"/>
              <a:buChar char="•"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module</a:t>
            </a:r>
            <a:endParaRPr lang="en-US" sz="820" dirty="0"/>
          </a:p>
          <a:p>
            <a:pPr marL="127000" indent="-127000">
              <a:buSzPct val="100000"/>
              <a:buChar char="•"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</a:t>
            </a:r>
            <a:endParaRPr lang="en-US" sz="820" dirty="0"/>
          </a:p>
          <a:p>
            <a:pPr marL="127000" indent="-127000">
              <a:buSzPct val="100000"/>
              <a:buChar char="•"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685800" y="4480560"/>
            <a:ext cx="777240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revenue: NHIF facilitation fees, wholesale marketplace commission, drug database API licensing, anonymised sector intelligence reports.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 large enough to build on. Underserved enough to win.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- AFRICA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11612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$500M+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594360" y="170992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pharmacy outlets across 54 countries at $40/month avg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213055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- EAST AFRICA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288036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~100,000 regulated outlets across six target markets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3300984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- TANZANIA Y3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66928" y="35021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$5M ARR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94360" y="405079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outlets at Tsh 65K avg/month; ~12.5% penetration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17720" y="841248"/>
            <a:ext cx="3566160" cy="3566160"/>
          </a:xfrm>
          <a:prstGeom prst="ellipse">
            <a:avLst/>
          </a:prstGeom>
          <a:solidFill>
            <a:srgbClr val="F7B731">
              <a:alpha val="64000"/>
            </a:srgbClr>
          </a:solidFill>
          <a:ln w="12700">
            <a:solidFill>
              <a:srgbClr val="F7B731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66360" y="1389888"/>
            <a:ext cx="2468880" cy="2468880"/>
          </a:xfrm>
          <a:prstGeom prst="ellipse">
            <a:avLst/>
          </a:prstGeom>
          <a:solidFill>
            <a:srgbClr val="00A878">
              <a:alpha val="77000"/>
            </a:srgbClr>
          </a:solidFill>
          <a:ln w="12700">
            <a:solidFill>
              <a:srgbClr val="00A878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79008" y="2011680"/>
            <a:ext cx="1234440" cy="123444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005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$500M+ TAM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16642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$50M SAM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97880" y="250545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$5M SOM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entry. Network density. Regional expansion.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51560" y="1481328"/>
            <a:ext cx="6903720" cy="0"/>
          </a:xfrm>
          <a:prstGeom prst="line">
            <a:avLst/>
          </a:prstGeom>
          <a:noFill/>
          <a:ln w="19050">
            <a:solidFill>
              <a:srgbClr val="00A87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64208" y="1243584"/>
            <a:ext cx="475488" cy="475488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01368" y="1380744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828800"/>
            <a:ext cx="2331720" cy="2331720"/>
          </a:xfrm>
          <a:prstGeom prst="roundRect">
            <a:avLst>
              <a:gd name="adj" fmla="val 2353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02996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1-18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" y="2267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Foundation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2770632"/>
            <a:ext cx="17373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7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sales to pharmacy groups</a:t>
            </a:r>
            <a:endParaRPr lang="en-US" sz="780" dirty="0"/>
          </a:p>
          <a:p>
            <a:pPr marL="127000" indent="-127000">
              <a:buSzPct val="100000"/>
              <a:buChar char="•"/>
            </a:pPr>
            <a:r>
              <a:rPr lang="en-US" sz="7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TMDA inspection-readiness positioning</a:t>
            </a:r>
            <a:endParaRPr lang="en-US" sz="780" dirty="0"/>
          </a:p>
          <a:p>
            <a:pPr marL="127000" indent="-127000">
              <a:buSzPct val="100000"/>
              <a:buChar char="•"/>
            </a:pPr>
            <a:r>
              <a:rPr lang="en-US" sz="7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NHIF as pull factor</a:t>
            </a:r>
            <a:endParaRPr lang="en-US" sz="780" dirty="0"/>
          </a:p>
          <a:p>
            <a:pPr marL="127000" indent="-127000">
              <a:buSzPct val="100000"/>
              <a:buChar char="•"/>
            </a:pPr>
            <a:r>
              <a:rPr lang="en-US" sz="7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500 outlets, Tsh 30M+ MRR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4498848" y="1243584"/>
            <a:ext cx="475488" cy="475488"/>
          </a:xfrm>
          <a:prstGeom prst="ellipse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380744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93008" y="1828800"/>
            <a:ext cx="2331720" cy="2331720"/>
          </a:xfrm>
          <a:prstGeom prst="roundRect">
            <a:avLst>
              <a:gd name="adj" fmla="val 2353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0" y="202996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18-36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0" y="2267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Africa Expansion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21608" y="2770632"/>
            <a:ext cx="17373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7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market entry</a:t>
            </a:r>
            <a:endParaRPr lang="en-US" sz="780" dirty="0"/>
          </a:p>
          <a:p>
            <a:pPr marL="127000" indent="-127000">
              <a:buSzPct val="100000"/>
              <a:buChar char="•"/>
            </a:pPr>
            <a:r>
              <a:rPr lang="en-US" sz="7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 pilot</a:t>
            </a:r>
            <a:endParaRPr lang="en-US" sz="780" dirty="0"/>
          </a:p>
          <a:p>
            <a:pPr marL="127000" indent="-127000">
              <a:buSzPct val="100000"/>
              <a:buChar char="•"/>
            </a:pPr>
            <a:r>
              <a:rPr lang="en-US" sz="7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wholesale workflows</a:t>
            </a:r>
            <a:endParaRPr lang="en-US" sz="780" dirty="0"/>
          </a:p>
          <a:p>
            <a:pPr marL="127000" indent="-127000">
              <a:buSzPct val="100000"/>
              <a:buChar char="•"/>
            </a:pPr>
            <a:r>
              <a:rPr lang="en-US" sz="7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2,000 outlets across 3 markets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7333488" y="1243584"/>
            <a:ext cx="475488" cy="47548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0648" y="1380744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27648" y="1828800"/>
            <a:ext cx="2331720" cy="2331720"/>
          </a:xfrm>
          <a:prstGeom prst="roundRect">
            <a:avLst>
              <a:gd name="adj" fmla="val 2353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2240" y="202996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36-60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92240" y="2267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Scale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56248" y="2770632"/>
            <a:ext cx="17373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7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Rwanda, Ethiopia, Mozambique</a:t>
            </a:r>
            <a:endParaRPr lang="en-US" sz="780" dirty="0"/>
          </a:p>
          <a:p>
            <a:pPr marL="127000" indent="-127000">
              <a:buSzPct val="100000"/>
              <a:buChar char="•"/>
            </a:pPr>
            <a:r>
              <a:rPr lang="en-US" sz="7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and distributor APIs</a:t>
            </a:r>
            <a:endParaRPr lang="en-US" sz="780" dirty="0"/>
          </a:p>
          <a:p>
            <a:pPr marL="127000" indent="-127000">
              <a:buSzPct val="100000"/>
              <a:buChar char="•"/>
            </a:pPr>
            <a:r>
              <a:rPr lang="en-US" sz="7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intelligence data product</a:t>
            </a:r>
            <a:endParaRPr lang="en-US" sz="780" dirty="0"/>
          </a:p>
          <a:p>
            <a:pPr marL="127000" indent="-127000">
              <a:buSzPct val="100000"/>
              <a:buChar char="•"/>
            </a:pPr>
            <a:r>
              <a:rPr lang="en-US" sz="7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10,000+ outlets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competitive landscape has a gap. We're in it.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94360" y="1024128"/>
            <a:ext cx="480060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3995928"/>
            <a:ext cx="38404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389888"/>
            <a:ext cx="0" cy="26060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31720" y="422452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Depth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 rot="16200000">
            <a:off x="621792" y="2350008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Safety Depth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737360" y="3749040"/>
            <a:ext cx="182880" cy="1828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376732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Paper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926080" y="3657600"/>
            <a:ext cx="182880" cy="1828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36758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POS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423160" y="2697480"/>
            <a:ext cx="182880" cy="1828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271576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834640" y="2240280"/>
            <a:ext cx="182880" cy="1828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225856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SW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148840" y="2103120"/>
            <a:ext cx="182880" cy="1828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212140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DHIS2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846320" y="1444752"/>
            <a:ext cx="384048" cy="384048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85232" y="146304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APOTEKH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15000" y="1024128"/>
            <a:ext cx="2788920" cy="342900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16168" y="12618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miss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89320" y="1691640"/>
            <a:ext cx="2084832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mPharma: no dispensing OS or clinical layer</a:t>
            </a:r>
            <a:endParaRPr lang="en-US" sz="800" dirty="0"/>
          </a:p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POS: no pharmacy-specific logic</a:t>
            </a:r>
            <a:endParaRPr lang="en-US" sz="800" dirty="0"/>
          </a:p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DHIS2/iHRIS: not built for retail pharmacy</a:t>
            </a:r>
            <a:endParaRPr lang="en-US" sz="800" dirty="0"/>
          </a:p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SW: no TMDA, NHIF, ADDO localization</a:t>
            </a:r>
            <a:endParaRPr lang="en-US" sz="800" dirty="0"/>
          </a:p>
          <a:p>
            <a:pPr marL="127000" indent="-127000"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Excel/WhatsApp: no intelligence or audit trail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advantages that compound over time.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04088"/>
            <a:ext cx="7863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structural positions, not loose features.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93192" y="1243584"/>
            <a:ext cx="1444752" cy="3063240"/>
          </a:xfrm>
          <a:prstGeom prst="roundRect">
            <a:avLst>
              <a:gd name="adj" fmla="val 3797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21208" y="1517904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208483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Compliant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21208" y="2697480"/>
            <a:ext cx="1115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TMDA, NHIF, NEMLIT AWaRe, and GSDP embedded from day one.</a:t>
            </a:r>
            <a:endParaRPr lang="en-US" sz="810" dirty="0"/>
          </a:p>
        </p:txBody>
      </p:sp>
      <p:sp>
        <p:nvSpPr>
          <p:cNvPr id="8" name="Shape 6"/>
          <p:cNvSpPr/>
          <p:nvPr/>
        </p:nvSpPr>
        <p:spPr>
          <a:xfrm>
            <a:off x="2130552" y="1243584"/>
            <a:ext cx="1444752" cy="3063240"/>
          </a:xfrm>
          <a:prstGeom prst="roundRect">
            <a:avLst>
              <a:gd name="adj" fmla="val 3797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58568" y="1517904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258568" y="208483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Trust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58568" y="2697480"/>
            <a:ext cx="1115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APOTEKH protects the Pharmacist in Charge's licence at the dispensing decision.</a:t>
            </a:r>
            <a:endParaRPr lang="en-US" sz="810" dirty="0"/>
          </a:p>
        </p:txBody>
      </p:sp>
      <p:sp>
        <p:nvSpPr>
          <p:cNvPr id="12" name="Shape 10"/>
          <p:cNvSpPr/>
          <p:nvPr/>
        </p:nvSpPr>
        <p:spPr>
          <a:xfrm>
            <a:off x="3867912" y="1243584"/>
            <a:ext cx="1444752" cy="3063240"/>
          </a:xfrm>
          <a:prstGeom prst="roundRect">
            <a:avLst>
              <a:gd name="adj" fmla="val 3797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95928" y="1517904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995928" y="208483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995928" y="2697480"/>
            <a:ext cx="1115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pharmacy becomes a node in the wholesale network.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5605272" y="1243584"/>
            <a:ext cx="1444752" cy="3063240"/>
          </a:xfrm>
          <a:prstGeom prst="roundRect">
            <a:avLst>
              <a:gd name="adj" fmla="val 3797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33288" y="1517904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733288" y="208483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Localization Debt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733288" y="2697480"/>
            <a:ext cx="1115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 pricing, ADDO tiers, local formulary, and supplier workflows built in.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7342632" y="1243584"/>
            <a:ext cx="1444752" cy="3063240"/>
          </a:xfrm>
          <a:prstGeom prst="roundRect">
            <a:avLst>
              <a:gd name="adj" fmla="val 3797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70648" y="1517904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470648" y="208483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Built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70648" y="2697480"/>
            <a:ext cx="1115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scales a production platform, not a concept deck.</a:t>
            </a:r>
            <a:endParaRPr lang="en-US" sz="8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we've built. What's next.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04088"/>
            <a:ext cx="7863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live-business metrics are intentionally marked for update before investor delivery.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58952" y="1143000"/>
            <a:ext cx="0" cy="3310128"/>
          </a:xfrm>
          <a:prstGeom prst="line">
            <a:avLst/>
          </a:prstGeom>
          <a:noFill/>
          <a:ln w="19050">
            <a:solidFill>
              <a:srgbClr val="00A8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133856"/>
            <a:ext cx="164592" cy="164592"/>
          </a:xfrm>
          <a:prstGeom prst="ellipse">
            <a:avLst/>
          </a:prstGeom>
          <a:solidFill>
            <a:srgbClr val="00A8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097280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Full-stack platform architecture deployed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676656" y="1490472"/>
            <a:ext cx="164592" cy="164592"/>
          </a:xfrm>
          <a:prstGeom prst="ellipse">
            <a:avLst/>
          </a:prstGeom>
          <a:solidFill>
            <a:srgbClr val="00A8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53896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Tanzanian formulary and AWaRe drug database seed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676656" y="1847088"/>
            <a:ext cx="164592" cy="164592"/>
          </a:xfrm>
          <a:prstGeom prst="ellipse">
            <a:avLst/>
          </a:prstGeom>
          <a:solidFill>
            <a:srgbClr val="00A8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810512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Dispensing engine with PIC PIN authorization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676656" y="2203704"/>
            <a:ext cx="164592" cy="164592"/>
          </a:xfrm>
          <a:prstGeom prst="ellipse">
            <a:avLst/>
          </a:prstGeom>
          <a:solidFill>
            <a:srgbClr val="00A8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167128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Drug interaction checking and FEFO inventory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676656" y="2560320"/>
            <a:ext cx="164592" cy="164592"/>
          </a:xfrm>
          <a:prstGeom prst="ellipse">
            <a:avLst/>
          </a:prstGeom>
          <a:solidFill>
            <a:srgbClr val="00A8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523744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Wholesale orders, manifests, and credit notes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676656" y="2916936"/>
            <a:ext cx="164592" cy="164592"/>
          </a:xfrm>
          <a:prstGeom prst="ellipse">
            <a:avLst/>
          </a:prstGeom>
          <a:solidFill>
            <a:srgbClr val="00A8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880360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Stockout, dead stock, and AI counselling modules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676656" y="3273552"/>
            <a:ext cx="164592" cy="164592"/>
          </a:xfrm>
          <a:prstGeom prst="ellipse">
            <a:avLst/>
          </a:prstGeom>
          <a:solidFill>
            <a:srgbClr val="F7B7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236976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READY: Pharmacovigilance and cold chain schemas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676656" y="3630168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593592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PROGRESS: NHIF electronic claims integration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676656" y="3986784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950208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TMDA digital inspection and Kenya localization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5532120" y="1115568"/>
            <a:ext cx="2971800" cy="2468880"/>
          </a:xfrm>
          <a:prstGeom prst="roundRect">
            <a:avLst>
              <a:gd name="adj" fmla="val 2222"/>
            </a:avLst>
          </a:prstGeom>
          <a:solidFill>
            <a:srgbClr val="FFF3D0"/>
          </a:solidFill>
          <a:ln w="8890">
            <a:solidFill>
              <a:srgbClr val="F7B7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41848" y="1225296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METRICS TO FILL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41848" y="1508760"/>
            <a:ext cx="2752344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Outlets on platform: TO FILL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Dispensing transactions processed: TO FILL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in drug database: TO FILL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MRR: Tsh TO FILL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tier breakdown: TO FILL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5650992" y="3886200"/>
            <a:ext cx="26974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2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live numbers before investor presentation; do not replace these with estimates.</a:t>
            </a:r>
            <a:endParaRPr lang="en-US" sz="8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that built it.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04088"/>
            <a:ext cx="7863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operations, software engineering, healthcare regulation, and African market knowledge.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2331720" cy="2834640"/>
          </a:xfrm>
          <a:prstGeom prst="roundRect">
            <a:avLst>
              <a:gd name="adj" fmla="val 2353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508760"/>
            <a:ext cx="777240" cy="777240"/>
          </a:xfrm>
          <a:prstGeom prst="ellipse">
            <a:avLst/>
          </a:prstGeom>
          <a:solidFill>
            <a:srgbClr val="DDF7EE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7048" y="1801368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95528" y="2487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TO FILL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95528" y="276148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/ CEO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822960" y="312724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Bio: TO FILL with 2-3 lines covering pharmacy ops, regulatory insight, and market credibility.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3383280" y="1234440"/>
            <a:ext cx="2331720" cy="2834640"/>
          </a:xfrm>
          <a:prstGeom prst="roundRect">
            <a:avLst>
              <a:gd name="adj" fmla="val 2353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60520" y="1508760"/>
            <a:ext cx="777240" cy="777240"/>
          </a:xfrm>
          <a:prstGeom prst="ellipse">
            <a:avLst/>
          </a:prstGeom>
          <a:solidFill>
            <a:srgbClr val="DDF7EE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5968" y="1801368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584448" y="2487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TO FILL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84448" y="276148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Lead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3611880" y="312724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Bio: TO FILL with product, engineering, and platform delivery credibility.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6172200" y="1234440"/>
            <a:ext cx="2331720" cy="2834640"/>
          </a:xfrm>
          <a:prstGeom prst="roundRect">
            <a:avLst>
              <a:gd name="adj" fmla="val 2353"/>
            </a:avLst>
          </a:prstGeom>
          <a:solidFill>
            <a:srgbClr val="F5F7FA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0" y="1508760"/>
            <a:ext cx="777240" cy="777240"/>
          </a:xfrm>
          <a:prstGeom prst="ellipse">
            <a:avLst/>
          </a:prstGeom>
          <a:solidFill>
            <a:srgbClr val="DDF7EE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04888" y="1801368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373368" y="2487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TO FILL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73368" y="276148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/ Regulatory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6400800" y="312724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Bio: TO FILL with TMDA, NHIF, NEMLIT, clinical safety, or pharmacy council credentials.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1143000" y="4315968"/>
            <a:ext cx="6858000" cy="438912"/>
          </a:xfrm>
          <a:prstGeom prst="roundRect">
            <a:avLst>
              <a:gd name="adj" fmla="val 12500"/>
            </a:avLst>
          </a:prstGeom>
          <a:solidFill>
            <a:srgbClr val="FFF3D0"/>
          </a:solidFill>
          <a:ln w="8890">
            <a:solidFill>
              <a:srgbClr val="F7B73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52728" y="4425696"/>
            <a:ext cx="6638544" cy="140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BIOS TO FILL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52728" y="4572000"/>
            <a:ext cx="6638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every team card with confirmed names, titles, photos, credentials, LinkedIn/contact details, and advisor or partner logos only if they are approved for use.</a:t>
            </a:r>
            <a:endParaRPr lang="en-US" sz="8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financial trajectory.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04088"/>
            <a:ext cx="7863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projections based on 12.5% Tanzania market penetration by Year 3.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3977640"/>
            <a:ext cx="48006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3867912"/>
            <a:ext cx="502920" cy="109728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361188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~$26K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05840" y="411480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4672" y="432511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outlets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1901952" y="3867912"/>
            <a:ext cx="502920" cy="109728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92224" y="361188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~$163K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901952" y="411480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700784" y="432511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outlets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2798064" y="3715703"/>
            <a:ext cx="502920" cy="261937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88336" y="345967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~$750K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98064" y="411480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96896" y="432511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outlets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3694176" y="3069590"/>
            <a:ext cx="502920" cy="90805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84448" y="281355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~$2.6M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94176" y="411480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93008" y="432511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 outlets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590288" y="1463040"/>
            <a:ext cx="502920" cy="251460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120700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~$7.2M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90288" y="411480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389120" y="432511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outlets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5806440" y="1188720"/>
            <a:ext cx="2651760" cy="297180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16752" y="14447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projection metrics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53328" y="1847088"/>
            <a:ext cx="1920240" cy="1664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Margin: ~78%</a:t>
            </a:r>
            <a:endParaRPr lang="en-US" sz="820" dirty="0"/>
          </a:p>
          <a:p>
            <a:pPr marL="127000" indent="-127000">
              <a:buSzPct val="100000"/>
              <a:buChar char="•"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Retention: ~115%</a:t>
            </a:r>
            <a:endParaRPr lang="en-US" sz="820" dirty="0"/>
          </a:p>
          <a:p>
            <a:pPr marL="127000" indent="-127000">
              <a:buSzPct val="100000"/>
              <a:buChar char="•"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Target: Tsh 150,000 (~$60)</a:t>
            </a:r>
            <a:endParaRPr lang="en-US" sz="820" dirty="0"/>
          </a:p>
          <a:p>
            <a:pPr marL="127000" indent="-127000">
              <a:buSzPct val="100000"/>
              <a:buChar char="•"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Target: Tsh 3,600,000+ (~$1,440)</a:t>
            </a:r>
            <a:endParaRPr lang="en-US" sz="820" dirty="0"/>
          </a:p>
          <a:p>
            <a:pPr marL="127000" indent="-127000">
              <a:buSzPct val="100000"/>
              <a:buChar char="•"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 Ratio: 24:1</a:t>
            </a:r>
            <a:endParaRPr lang="en-US" sz="820" dirty="0"/>
          </a:p>
          <a:p>
            <a:pPr marL="127000" indent="-127000">
              <a:buSzPct val="100000"/>
              <a:buChar char="•"/>
            </a:pPr>
            <a:r>
              <a:rPr lang="en-US" sz="8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Period: ~3 months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822960" y="4645152"/>
            <a:ext cx="4663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rate assumption: Tsh 2,500 = $1. Adjust to current rate before presenting.</a:t>
            </a:r>
            <a:endParaRPr lang="en-US" sz="7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7607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9509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TO FILL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58368" y="17007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2130552"/>
            <a:ext cx="2468880" cy="0"/>
          </a:xfrm>
          <a:prstGeom prst="line">
            <a:avLst/>
          </a:prstGeom>
          <a:noFill/>
          <a:ln w="12700">
            <a:solidFill>
              <a:srgbClr val="F7B7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39572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scale Tanzania, enter East Africa, and complete NHIF + TMDA integrations.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58952" y="3127248"/>
            <a:ext cx="28346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outlets onboarded - Month 18</a:t>
            </a:r>
            <a:endParaRPr lang="en-US" sz="870" dirty="0"/>
          </a:p>
          <a:p>
            <a:pPr marL="127000" indent="-127000">
              <a:buSzPct val="100000"/>
              <a:buChar char="•"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NHIF integration live - Month 12</a:t>
            </a:r>
            <a:endParaRPr lang="en-US" sz="870" dirty="0"/>
          </a:p>
          <a:p>
            <a:pPr marL="127000" indent="-127000">
              <a:buSzPct val="100000"/>
              <a:buChar char="•"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market entry - Month 24</a:t>
            </a:r>
            <a:endParaRPr lang="en-US" sz="870" dirty="0"/>
          </a:p>
          <a:p>
            <a:pPr marL="127000" indent="-127000">
              <a:buSzPct val="100000"/>
              <a:buChar char="•"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ready - Month 30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4846320" y="713232"/>
            <a:ext cx="3566160" cy="3154680"/>
          </a:xfrm>
          <a:prstGeom prst="roundRect">
            <a:avLst>
              <a:gd name="adj" fmla="val 1739"/>
            </a:avLst>
          </a:prstGeom>
          <a:solidFill>
            <a:srgbClr val="102F50"/>
          </a:solidFill>
          <a:ln w="8890">
            <a:solidFill>
              <a:srgbClr val="244B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0058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66360" y="1508760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Product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0" y="1527048"/>
            <a:ext cx="914400" cy="91440"/>
          </a:xfrm>
          <a:prstGeom prst="rect">
            <a:avLst/>
          </a:prstGeom>
          <a:solidFill>
            <a:srgbClr val="00A878">
              <a:alpha val="30000"/>
            </a:srgbClr>
          </a:solidFill>
          <a:ln w="12700">
            <a:solidFill>
              <a:srgbClr val="00A87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1527048"/>
            <a:ext cx="783771" cy="9144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82128" y="149961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166360" y="2011680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GTM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0" y="2029968"/>
            <a:ext cx="914400" cy="91440"/>
          </a:xfrm>
          <a:prstGeom prst="rect">
            <a:avLst/>
          </a:prstGeom>
          <a:solidFill>
            <a:srgbClr val="F7B731">
              <a:alpha val="30000"/>
            </a:srgbClr>
          </a:solidFill>
          <a:ln w="12700">
            <a:solidFill>
              <a:srgbClr val="F7B731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2029968"/>
            <a:ext cx="914400" cy="9144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82128" y="200253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166360" y="2514600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Compliance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58000" y="2532888"/>
            <a:ext cx="914400" cy="91440"/>
          </a:xfrm>
          <a:prstGeom prst="rect">
            <a:avLst/>
          </a:prstGeom>
          <a:solidFill>
            <a:srgbClr val="00A878">
              <a:alpha val="30000"/>
            </a:srgbClr>
          </a:solidFill>
          <a:ln w="12700">
            <a:solidFill>
              <a:srgbClr val="00A87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2532888"/>
            <a:ext cx="391886" cy="9144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82128" y="250545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166360" y="3017520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Team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58000" y="3035808"/>
            <a:ext cx="914400" cy="91440"/>
          </a:xfrm>
          <a:prstGeom prst="rect">
            <a:avLst/>
          </a:prstGeom>
          <a:solidFill>
            <a:srgbClr val="F7B731">
              <a:alpha val="30000"/>
            </a:srgbClr>
          </a:solidFill>
          <a:ln w="12700">
            <a:solidFill>
              <a:srgbClr val="F7B73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3035808"/>
            <a:ext cx="522514" cy="9144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82128" y="300837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46320" y="4160520"/>
            <a:ext cx="3566160" cy="475488"/>
          </a:xfrm>
          <a:prstGeom prst="roundRect">
            <a:avLst>
              <a:gd name="adj" fmla="val 11538"/>
            </a:avLst>
          </a:prstGeom>
          <a:solidFill>
            <a:srgbClr val="FFF3D0"/>
          </a:solidFill>
          <a:ln w="8890">
            <a:solidFill>
              <a:srgbClr val="F7B73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4270248"/>
            <a:ext cx="3346704" cy="152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DETAILS TO FILL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56048" y="4416552"/>
            <a:ext cx="3346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TO FILL | Email: TO FILL | Phone: TO FILL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658368" y="468172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APOTEKH - The Operating System for African Pharmacy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APOTEKH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APOTEKH Investor Deck</dc:title>
  <dc:subject>APOTEKH Investor Deck</dc:subject>
  <dc:creator>APOTEKH</dc:creator>
  <cp:lastModifiedBy>APOTEKH</cp:lastModifiedBy>
  <cp:revision>1</cp:revision>
  <dcterms:created xsi:type="dcterms:W3CDTF">2026-05-16T15:41:38Z</dcterms:created>
  <dcterms:modified xsi:type="dcterms:W3CDTF">2026-05-16T15:41:38Z</dcterms:modified>
</cp:coreProperties>
</file>